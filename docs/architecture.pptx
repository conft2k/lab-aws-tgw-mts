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23.png"/><Relationship Id="rId25" Type="http://schemas.openxmlformats.org/officeDocument/2006/relationships/image" Target="../media/image2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27.png"/><Relationship Id="rId5" Type="http://schemas.openxmlformats.org/officeDocument/2006/relationships/image" Target="../media/image28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image" Target="../media/image7.png"/><Relationship Id="rId13" Type="http://schemas.openxmlformats.org/officeDocument/2006/relationships/image" Target="../media/image8.svg"/><Relationship Id="rId14" Type="http://schemas.openxmlformats.org/officeDocument/2006/relationships/image" Target="../media/image9.png"/><Relationship Id="rId15" Type="http://schemas.openxmlformats.org/officeDocument/2006/relationships/image" Target="../media/image10.svg"/><Relationship Id="rId16" Type="http://schemas.openxmlformats.org/officeDocument/2006/relationships/image" Target="../media/image23.png"/><Relationship Id="rId17" Type="http://schemas.openxmlformats.org/officeDocument/2006/relationships/image" Target="../media/image24.svg"/><Relationship Id="rId18" Type="http://schemas.openxmlformats.org/officeDocument/2006/relationships/image" Target="../media/image11.png"/><Relationship Id="rId19" Type="http://schemas.openxmlformats.org/officeDocument/2006/relationships/image" Target="../media/image12.svg"/><Relationship Id="rId20" Type="http://schemas.openxmlformats.org/officeDocument/2006/relationships/image" Target="../media/image13.png"/><Relationship Id="rId21" Type="http://schemas.openxmlformats.org/officeDocument/2006/relationships/image" Target="../media/image14.svg"/><Relationship Id="rId22" Type="http://schemas.openxmlformats.org/officeDocument/2006/relationships/image" Target="../media/image15.png"/><Relationship Id="rId23" Type="http://schemas.openxmlformats.org/officeDocument/2006/relationships/image" Target="../media/image16.svg"/><Relationship Id="rId24" Type="http://schemas.openxmlformats.org/officeDocument/2006/relationships/image" Target="../media/image17.png"/><Relationship Id="rId25" Type="http://schemas.openxmlformats.org/officeDocument/2006/relationships/image" Target="../media/image18.svg"/><Relationship Id="rId26" Type="http://schemas.openxmlformats.org/officeDocument/2006/relationships/image" Target="../media/image21.png"/><Relationship Id="rId27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28600" y="228600"/>
            <a:ext cx="1173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lang="ko-KR">
                <a:solidFill>
                  <a:srgbClr val="232F3E"/>
                </a:solidFill>
                <a:latin typeface="Arial"/>
                <a:ea typeface="Malgun Gothic"/>
                <a:cs typeface="Malgun Gothic"/>
              </a:rPr>
              <a:t>VPC 내부 — 활성/대기 라우터와 멀티캐스트 복제</a:t>
            </a:r>
          </a:p>
        </p:txBody>
      </p:sp>
      <p:grpSp>
        <p:nvGrpSpPr>
          <p:cNvPr id="3" name="Architecture diagram"/>
          <p:cNvGrpSpPr/>
          <p:nvPr/>
        </p:nvGrpSpPr>
        <p:grpSpPr>
          <a:xfrm>
            <a:off x="962887" y="1016151"/>
            <a:ext cx="10178254" cy="5511499"/>
            <a:chOff x="962887" y="1016151"/>
            <a:chExt cx="10178254" cy="5511499"/>
          </a:xfrm>
        </p:grpSpPr>
        <p:pic>
          <p:nvPicPr>
            <p:cNvPr id="4" name="AWS-Direct-Connect" descr="AWS Direct Connect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90028" y="3593836"/>
              <a:ext cx="407003" cy="407003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962887" y="4040692"/>
              <a:ext cx="1261285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Direct Connect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70628" y="4192470"/>
              <a:ext cx="845803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CGW에서 GRE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187076" y="1016151"/>
              <a:ext cx="8954065" cy="5511499"/>
            </a:xfrm>
            <a:prstGeom prst="rect">
              <a:avLst/>
            </a:prstGeom>
            <a:noFill/>
            <a:ln w="16958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8" name="AWS-Cloud-logo_32" descr="AWS Cloud logo_32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87076" y="1016151"/>
              <a:ext cx="271335" cy="271335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526245" y="1081865"/>
              <a:ext cx="914167" cy="16534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01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AWS Cloud</a:t>
              </a:r>
            </a:p>
          </p:txBody>
        </p:sp>
        <p:pic>
          <p:nvPicPr>
            <p:cNvPr id="10" name="AWS-Direct-Connect_Gateway" descr="AWS Direct Connect_Gateway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43203" y="3593836"/>
              <a:ext cx="407003" cy="407003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2524125" y="4040692"/>
              <a:ext cx="445159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DXGW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1830948" y="3797338"/>
              <a:ext cx="661380" cy="0"/>
            </a:xfrm>
            <a:prstGeom prst="line">
              <a:avLst/>
            </a:prstGeom>
            <a:ln w="12719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13" name="Rectangle 12"/>
            <p:cNvSpPr/>
            <p:nvPr/>
          </p:nvSpPr>
          <p:spPr>
            <a:xfrm>
              <a:off x="3085874" y="1338361"/>
              <a:ext cx="7936558" cy="5087537"/>
            </a:xfrm>
            <a:prstGeom prst="rect">
              <a:avLst/>
            </a:prstGeom>
            <a:noFill/>
            <a:ln w="16958">
              <a:solidFill>
                <a:srgbClr val="00A4A6"/>
              </a:solidFill>
              <a:custDash>
                <a:ds d="150000" sp="1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4" name="Region_32" descr="Region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085874" y="1338361"/>
              <a:ext cx="203501" cy="203501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3357209" y="1378214"/>
              <a:ext cx="1832573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34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Region ap-northeast-2</a:t>
              </a:r>
            </a:p>
          </p:txBody>
        </p:sp>
        <p:pic>
          <p:nvPicPr>
            <p:cNvPr id="16" name="AWS-Transit-Gateway" descr="AWS Transit Gateway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43752" y="3593836"/>
              <a:ext cx="407003" cy="407003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075805" y="4040692"/>
              <a:ext cx="1342898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Transit Gateway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16564" y="4192470"/>
              <a:ext cx="661380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AS 65400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984123" y="3797338"/>
              <a:ext cx="508754" cy="0"/>
            </a:xfrm>
            <a:prstGeom prst="line">
              <a:avLst/>
            </a:prstGeom>
            <a:ln w="12719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20" name="Rectangle 19"/>
            <p:cNvSpPr/>
            <p:nvPr/>
          </p:nvSpPr>
          <p:spPr>
            <a:xfrm>
              <a:off x="4510384" y="1643614"/>
              <a:ext cx="6393338" cy="4493991"/>
            </a:xfrm>
            <a:prstGeom prst="rect">
              <a:avLst/>
            </a:prstGeom>
            <a:noFill/>
            <a:ln w="16958">
              <a:solidFill>
                <a:srgbClr val="8C4FFF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1" name="Virtual-private-cloud-VPC_32" descr="Virtual private cloud VPC_32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510384" y="1643614"/>
              <a:ext cx="203501" cy="203501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4781720" y="1683466"/>
              <a:ext cx="1342898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34" b="1" lang="ko-KR">
                  <a:solidFill>
                    <a:srgbClr val="8C4FFF"/>
                  </a:solidFill>
                  <a:latin typeface="Arial"/>
                  <a:ea typeface="Malgun Gothic"/>
                  <a:cs typeface="Malgun Gothic"/>
                </a:rPr>
                <a:t>VPC 10.1.1.0/24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629093" y="1931907"/>
              <a:ext cx="6155920" cy="1475386"/>
            </a:xfrm>
            <a:prstGeom prst="rect">
              <a:avLst/>
            </a:prstGeom>
            <a:noFill/>
            <a:ln w="12719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96927" y="1971760"/>
              <a:ext cx="1832573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34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AZ1 · ap-northeast-2a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730844" y="2186284"/>
              <a:ext cx="1356677" cy="1119258"/>
            </a:xfrm>
            <a:prstGeom prst="rect">
              <a:avLst/>
            </a:prstGeom>
            <a:noFill/>
            <a:ln w="12719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6" name="Private-subnet_32" descr="Private subnet_32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30844" y="2186284"/>
              <a:ext cx="203501" cy="203501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5002180" y="2226137"/>
              <a:ext cx="934835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34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TGW subnet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06230" y="2186284"/>
              <a:ext cx="1916306" cy="1119258"/>
            </a:xfrm>
            <a:prstGeom prst="rect">
              <a:avLst/>
            </a:prstGeom>
            <a:noFill/>
            <a:ln w="12719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9" name="Private-subnet_32" descr="Private subnet_32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206230" y="2186284"/>
              <a:ext cx="203501" cy="203501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6477565" y="2226137"/>
              <a:ext cx="1179673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34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Router subnet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309079" y="2186284"/>
              <a:ext cx="2306350" cy="1119258"/>
            </a:xfrm>
            <a:prstGeom prst="rect">
              <a:avLst/>
            </a:prstGeom>
            <a:noFill/>
            <a:ln w="12719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rivate-subnet_32" descr="Private subnet_32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09079" y="2186284"/>
              <a:ext cx="203501" cy="203501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8580414" y="2226137"/>
              <a:ext cx="1342898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34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Receiver subnet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629093" y="4560468"/>
              <a:ext cx="6155920" cy="1475386"/>
            </a:xfrm>
            <a:prstGeom prst="rect">
              <a:avLst/>
            </a:prstGeom>
            <a:noFill/>
            <a:ln w="12719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696927" y="4600321"/>
              <a:ext cx="1832573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34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AZ2 · ap-northeast-2c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730844" y="4814845"/>
              <a:ext cx="1356677" cy="1119258"/>
            </a:xfrm>
            <a:prstGeom prst="rect">
              <a:avLst/>
            </a:prstGeom>
            <a:noFill/>
            <a:ln w="12719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7" name="Private-subnet_32" descr="Private subnet_32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30844" y="4814845"/>
              <a:ext cx="203501" cy="203501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5002180" y="4854697"/>
              <a:ext cx="934835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34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TGW subnet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06230" y="4814845"/>
              <a:ext cx="1916306" cy="1119258"/>
            </a:xfrm>
            <a:prstGeom prst="rect">
              <a:avLst/>
            </a:prstGeom>
            <a:noFill/>
            <a:ln w="12719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rivate-subnet_32" descr="Private subnet_32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206230" y="4814845"/>
              <a:ext cx="203501" cy="203501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6477565" y="4854697"/>
              <a:ext cx="1179673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34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Router subnet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309079" y="4814845"/>
              <a:ext cx="2306350" cy="1119258"/>
            </a:xfrm>
            <a:prstGeom prst="rect">
              <a:avLst/>
            </a:prstGeom>
            <a:noFill/>
            <a:ln w="12719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rivate-subnet_32" descr="Private subnet_32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09079" y="4814845"/>
              <a:ext cx="203501" cy="203501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8580414" y="4854697"/>
              <a:ext cx="1342898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34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Receiver subnet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224286" y="1965824"/>
              <a:ext cx="2475935" cy="4019154"/>
            </a:xfrm>
            <a:prstGeom prst="rect">
              <a:avLst/>
            </a:prstGeom>
            <a:noFill/>
            <a:ln w="12719">
              <a:solidFill>
                <a:srgbClr val="7D8998"/>
              </a:solidFill>
              <a:custDash>
                <a:ds d="400000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6" name="AWS-Transit-Gateway" descr="AWS Transit Gateway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224286" y="1965824"/>
              <a:ext cx="169585" cy="169585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8461705" y="2005677"/>
              <a:ext cx="2448377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34" b="1" lang="ko-KR">
                  <a:solidFill>
                    <a:srgbClr val="7D8998"/>
                  </a:solidFill>
                  <a:latin typeface="Arial"/>
                  <a:ea typeface="Malgun Gothic"/>
                  <a:cs typeface="Malgun Gothic"/>
                </a:rPr>
                <a:t>TGW 멀티캐스트 도메인 · IGMPv2</a:t>
              </a:r>
            </a:p>
          </p:txBody>
        </p:sp>
        <p:pic>
          <p:nvPicPr>
            <p:cNvPr id="48" name="AWS-Transit-Gateway_Attachment" descr="AWS Transit Gateway_Attachment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205681" y="2474578"/>
              <a:ext cx="407003" cy="407003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4778540" y="2921433"/>
              <a:ext cx="1261285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attachment</a:t>
              </a:r>
            </a:p>
          </p:txBody>
        </p:sp>
        <p:pic>
          <p:nvPicPr>
            <p:cNvPr id="50" name="Amazon-EC2_Instance" descr="Amazon EC2_Instance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189820" y="2474578"/>
              <a:ext cx="407003" cy="407003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6736712" y="2921433"/>
              <a:ext cx="1313221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C8000V-1 · 활성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725583" y="3073212"/>
              <a:ext cx="1335478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Gi1 .30 · GRE 종단</a:t>
              </a:r>
            </a:p>
          </p:txBody>
        </p:sp>
        <p:pic>
          <p:nvPicPr>
            <p:cNvPr id="53" name="Amazon-VPC_Elastic-Network-Interface" descr="Amazon VPC_Elastic Network Interface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631289" y="2474578"/>
              <a:ext cx="407003" cy="407003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8285761" y="2921433"/>
              <a:ext cx="1098060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C8000V-1 Gi2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469124" y="3073212"/>
              <a:ext cx="731333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10.1.1.90</a:t>
              </a:r>
            </a:p>
          </p:txBody>
        </p:sp>
        <p:pic>
          <p:nvPicPr>
            <p:cNvPr id="56" name="Amazon-EC2_Instance" descr="Amazon EC2_Instance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937091" y="2474578"/>
              <a:ext cx="407003" cy="407003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9613820" y="2921433"/>
              <a:ext cx="1053544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EC2-1 리시버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774925" y="3073212"/>
              <a:ext cx="731333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10.1.1.84</a:t>
              </a:r>
            </a:p>
          </p:txBody>
        </p:sp>
        <p:pic>
          <p:nvPicPr>
            <p:cNvPr id="59" name="AWS-Transit-Gateway_Attachment" descr="AWS Transit Gateway_Attachment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205681" y="5103139"/>
              <a:ext cx="407003" cy="407003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4778540" y="5549994"/>
              <a:ext cx="1261285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attachment</a:t>
              </a:r>
            </a:p>
          </p:txBody>
        </p:sp>
        <p:pic>
          <p:nvPicPr>
            <p:cNvPr id="61" name="Amazon-EC2_Instance" descr="Amazon EC2_Instance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189820" y="5103139"/>
              <a:ext cx="407003" cy="407003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6736712" y="5549994"/>
              <a:ext cx="1313221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C8000V-2 · 대기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642910" y="5701772"/>
              <a:ext cx="1500823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Gi1 .40 · prepend ×3</a:t>
              </a:r>
            </a:p>
          </p:txBody>
        </p:sp>
        <p:pic>
          <p:nvPicPr>
            <p:cNvPr id="64" name="Amazon-VPC_Elastic-Network-Interface" descr="Amazon VPC_Elastic Network Interface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631289" y="5103139"/>
              <a:ext cx="407003" cy="407003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8285761" y="5549994"/>
              <a:ext cx="1098060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C8000V-2 Gi2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434147" y="5701772"/>
              <a:ext cx="801287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10.1.1.100</a:t>
              </a:r>
            </a:p>
          </p:txBody>
        </p:sp>
        <p:pic>
          <p:nvPicPr>
            <p:cNvPr id="67" name="Amazon-EC2_Instance" descr="Amazon EC2_Instance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937091" y="5103139"/>
              <a:ext cx="407003" cy="407003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9613820" y="5549994"/>
              <a:ext cx="1053544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EC2-2 리시버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739948" y="5701772"/>
              <a:ext cx="801287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10.1.1.116</a:t>
              </a:r>
            </a:p>
          </p:txBody>
        </p:sp>
        <p:sp>
          <p:nvSpPr>
            <p:cNvPr id="70" name="Freeform 69"/>
            <p:cNvSpPr/>
            <p:nvPr/>
          </p:nvSpPr>
          <p:spPr>
            <a:xfrm>
              <a:off x="3984672" y="2678080"/>
              <a:ext cx="1170134" cy="1119258"/>
            </a:xfrm>
            <a:custGeom>
              <a:avLst/>
              <a:gdLst/>
              <a:ahLst/>
              <a:cxnLst/>
              <a:rect l="l" t="t" r="r" b="b"/>
              <a:pathLst>
                <a:path w="1170134" h="1119258">
                  <a:moveTo>
                    <a:pt x="0" y="1119258"/>
                  </a:moveTo>
                  <a:lnTo>
                    <a:pt x="356128" y="1119258"/>
                  </a:lnTo>
                  <a:lnTo>
                    <a:pt x="356128" y="0"/>
                  </a:lnTo>
                  <a:lnTo>
                    <a:pt x="1170134" y="0"/>
                  </a:lnTo>
                </a:path>
              </a:pathLst>
            </a:custGeom>
            <a:noFill/>
            <a:ln w="12719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4340800" y="3797338"/>
              <a:ext cx="814006" cy="1509302"/>
            </a:xfrm>
            <a:custGeom>
              <a:avLst/>
              <a:gdLst/>
              <a:ahLst/>
              <a:cxnLst/>
              <a:rect l="l" t="t" r="r" b="b"/>
              <a:pathLst>
                <a:path w="814006" h="1509302">
                  <a:moveTo>
                    <a:pt x="0" y="0"/>
                  </a:moveTo>
                  <a:lnTo>
                    <a:pt x="0" y="1509302"/>
                  </a:lnTo>
                  <a:lnTo>
                    <a:pt x="814006" y="1509302"/>
                  </a:lnTo>
                </a:path>
              </a:pathLst>
            </a:custGeom>
            <a:noFill/>
            <a:ln w="12719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2" name="Connector 71"/>
            <p:cNvCxnSpPr/>
            <p:nvPr/>
          </p:nvCxnSpPr>
          <p:spPr>
            <a:xfrm>
              <a:off x="5646601" y="2678080"/>
              <a:ext cx="1492344" cy="0"/>
            </a:xfrm>
            <a:prstGeom prst="line">
              <a:avLst/>
            </a:prstGeom>
            <a:ln w="12719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73" name="TextBox 72"/>
            <p:cNvSpPr txBox="1"/>
            <p:nvPr/>
          </p:nvSpPr>
          <p:spPr>
            <a:xfrm>
              <a:off x="5694297" y="2513582"/>
              <a:ext cx="311612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GRE</a:t>
              </a:r>
            </a:p>
          </p:txBody>
        </p:sp>
        <p:cxnSp>
          <p:nvCxnSpPr>
            <p:cNvPr id="74" name="Connector 73"/>
            <p:cNvCxnSpPr/>
            <p:nvPr/>
          </p:nvCxnSpPr>
          <p:spPr>
            <a:xfrm>
              <a:off x="5646601" y="5306640"/>
              <a:ext cx="1492344" cy="0"/>
            </a:xfrm>
            <a:prstGeom prst="line">
              <a:avLst/>
            </a:prstGeom>
            <a:ln w="12719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</p:cxnSp>
        <p:sp>
          <p:nvSpPr>
            <p:cNvPr id="75" name="TextBox 74"/>
            <p:cNvSpPr txBox="1"/>
            <p:nvPr/>
          </p:nvSpPr>
          <p:spPr>
            <a:xfrm>
              <a:off x="6294202" y="5142143"/>
              <a:ext cx="807647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페일오버 시</a:t>
              </a:r>
            </a:p>
          </p:txBody>
        </p:sp>
        <p:cxnSp>
          <p:nvCxnSpPr>
            <p:cNvPr id="76" name="Connector 75"/>
            <p:cNvCxnSpPr/>
            <p:nvPr/>
          </p:nvCxnSpPr>
          <p:spPr>
            <a:xfrm>
              <a:off x="7630740" y="2678080"/>
              <a:ext cx="949674" cy="0"/>
            </a:xfrm>
            <a:prstGeom prst="line">
              <a:avLst/>
            </a:prstGeom>
            <a:ln w="12719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cxnSp>
          <p:nvCxnSpPr>
            <p:cNvPr id="77" name="Connector 76"/>
            <p:cNvCxnSpPr/>
            <p:nvPr/>
          </p:nvCxnSpPr>
          <p:spPr>
            <a:xfrm>
              <a:off x="7630740" y="5306640"/>
              <a:ext cx="949674" cy="0"/>
            </a:xfrm>
            <a:prstGeom prst="line">
              <a:avLst/>
            </a:prstGeom>
            <a:ln w="12719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</p:cxnSp>
        <p:cxnSp>
          <p:nvCxnSpPr>
            <p:cNvPr id="78" name="Connector 77"/>
            <p:cNvCxnSpPr/>
            <p:nvPr/>
          </p:nvCxnSpPr>
          <p:spPr>
            <a:xfrm>
              <a:off x="9072209" y="2678080"/>
              <a:ext cx="814006" cy="0"/>
            </a:xfrm>
            <a:prstGeom prst="line">
              <a:avLst/>
            </a:prstGeom>
            <a:ln w="12719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79" name="Freeform 78"/>
            <p:cNvSpPr/>
            <p:nvPr/>
          </p:nvSpPr>
          <p:spPr>
            <a:xfrm>
              <a:off x="9580963" y="2678080"/>
              <a:ext cx="305252" cy="2628560"/>
            </a:xfrm>
            <a:custGeom>
              <a:avLst/>
              <a:gdLst/>
              <a:ahLst/>
              <a:cxnLst/>
              <a:rect l="l" t="t" r="r" b="b"/>
              <a:pathLst>
                <a:path w="305252" h="2628560">
                  <a:moveTo>
                    <a:pt x="0" y="0"/>
                  </a:moveTo>
                  <a:lnTo>
                    <a:pt x="0" y="2628560"/>
                  </a:lnTo>
                  <a:lnTo>
                    <a:pt x="305252" y="2628560"/>
                  </a:lnTo>
                </a:path>
              </a:pathLst>
            </a:custGeom>
            <a:noFill/>
            <a:ln w="12719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220596" y="2513582"/>
              <a:ext cx="635942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복제</a:t>
              </a:r>
            </a:p>
          </p:txBody>
        </p:sp>
        <p:pic>
          <p:nvPicPr>
            <p:cNvPr id="81" name="Amazon-VPC_Router" descr="Amazon VPC_Router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7189820" y="3593836"/>
              <a:ext cx="407003" cy="407003"/>
            </a:xfrm>
            <a:prstGeom prst="rect">
              <a:avLst/>
            </a:prstGeom>
          </p:spPr>
        </p:pic>
        <p:sp>
          <p:nvSpPr>
            <p:cNvPr id="82" name="TextBox 81"/>
            <p:cNvSpPr txBox="1"/>
            <p:nvPr/>
          </p:nvSpPr>
          <p:spPr>
            <a:xfrm>
              <a:off x="6681067" y="4040692"/>
              <a:ext cx="1424510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VPC Route Server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062632" y="4192470"/>
              <a:ext cx="661380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AS 65100</a:t>
              </a:r>
            </a:p>
          </p:txBody>
        </p:sp>
        <p:cxnSp>
          <p:nvCxnSpPr>
            <p:cNvPr id="84" name="Connector 83"/>
            <p:cNvCxnSpPr/>
            <p:nvPr/>
          </p:nvCxnSpPr>
          <p:spPr>
            <a:xfrm>
              <a:off x="7393322" y="3220750"/>
              <a:ext cx="0" cy="339169"/>
            </a:xfrm>
            <a:prstGeom prst="line">
              <a:avLst/>
            </a:prstGeom>
            <a:ln w="12719">
              <a:solidFill>
                <a:srgbClr val="232F3E"/>
              </a:solidFill>
              <a:custDash>
                <a:ds d="400000" sp="266667"/>
              </a:custDash>
              <a:miter lim="800000"/>
            </a:ln>
          </p:spPr>
        </p:cxnSp>
        <p:sp>
          <p:nvSpPr>
            <p:cNvPr id="85" name="TextBox 84"/>
            <p:cNvSpPr txBox="1"/>
            <p:nvPr/>
          </p:nvSpPr>
          <p:spPr>
            <a:xfrm>
              <a:off x="7461156" y="3429339"/>
              <a:ext cx="591426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0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BGP·BFD</a:t>
              </a:r>
            </a:p>
          </p:txBody>
        </p:sp>
        <p:cxnSp>
          <p:nvCxnSpPr>
            <p:cNvPr id="86" name="Connector 85"/>
            <p:cNvCxnSpPr/>
            <p:nvPr/>
          </p:nvCxnSpPr>
          <p:spPr>
            <a:xfrm>
              <a:off x="7393322" y="4340008"/>
              <a:ext cx="0" cy="729214"/>
            </a:xfrm>
            <a:prstGeom prst="line">
              <a:avLst/>
            </a:prstGeom>
            <a:ln w="12719">
              <a:solidFill>
                <a:srgbClr val="232F3E"/>
              </a:solidFill>
              <a:custDash>
                <a:ds d="400000" sp="266667"/>
              </a:custDash>
              <a:miter lim="800000"/>
            </a:ln>
          </p:spPr>
        </p:cxnSp>
        <p:sp>
          <p:nvSpPr>
            <p:cNvPr id="87" name="TextBox 86"/>
            <p:cNvSpPr txBox="1"/>
            <p:nvPr/>
          </p:nvSpPr>
          <p:spPr>
            <a:xfrm>
              <a:off x="7461156" y="4395971"/>
              <a:ext cx="591426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0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BGP·BFD</a:t>
              </a:r>
            </a:p>
          </p:txBody>
        </p:sp>
        <p:pic>
          <p:nvPicPr>
            <p:cNvPr id="88" name="Amazon-Route-53_Route-Table" descr="Amazon Route 53_Route Table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205681" y="3593836"/>
              <a:ext cx="407003" cy="407003"/>
            </a:xfrm>
            <a:prstGeom prst="rect">
              <a:avLst/>
            </a:prstGeom>
          </p:spPr>
        </p:pic>
        <p:sp>
          <p:nvSpPr>
            <p:cNvPr id="89" name="TextBox 88"/>
            <p:cNvSpPr txBox="1"/>
            <p:nvPr/>
          </p:nvSpPr>
          <p:spPr>
            <a:xfrm>
              <a:off x="4452090" y="4040692"/>
              <a:ext cx="1914186" cy="15432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3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tgw-rtb · receiver-rtb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776420" y="4192470"/>
              <a:ext cx="1265525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→ 활성 C8000V Gi1</a:t>
              </a:r>
            </a:p>
          </p:txBody>
        </p:sp>
        <p:cxnSp>
          <p:nvCxnSpPr>
            <p:cNvPr id="91" name="Connector 90"/>
            <p:cNvCxnSpPr/>
            <p:nvPr/>
          </p:nvCxnSpPr>
          <p:spPr>
            <a:xfrm flipH="1">
              <a:off x="5663559" y="3797338"/>
              <a:ext cx="1492345" cy="0"/>
            </a:xfrm>
            <a:prstGeom prst="line">
              <a:avLst/>
            </a:prstGeom>
            <a:ln w="12719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</p:cxnSp>
        <p:sp>
          <p:nvSpPr>
            <p:cNvPr id="92" name="TextBox 91"/>
            <p:cNvSpPr txBox="1"/>
            <p:nvPr/>
          </p:nvSpPr>
          <p:spPr>
            <a:xfrm>
              <a:off x="6069502" y="3632841"/>
              <a:ext cx="680458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80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경로 주입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4811397" y="6227485"/>
              <a:ext cx="6092326" cy="13227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801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실선: 평상시 데이터 경로 · 점선: 페일오버 시 경로와 컨트롤 플레인 — 활성 라우터만 Gi2로 송출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28600" y="228600"/>
            <a:ext cx="1173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lang="ko-KR">
                <a:solidFill>
                  <a:srgbClr val="232F3E"/>
                </a:solidFill>
                <a:latin typeface="Arial"/>
                <a:ea typeface="Malgun Gothic"/>
                <a:cs typeface="Malgun Gothic"/>
              </a:rPr>
              <a:t>GRE 캡슐 패킷 경로 (온프렘 → AWS)</a:t>
            </a:r>
          </a:p>
        </p:txBody>
      </p:sp>
      <p:grpSp>
        <p:nvGrpSpPr>
          <p:cNvPr id="3" name="Architecture diagram"/>
          <p:cNvGrpSpPr/>
          <p:nvPr/>
        </p:nvGrpSpPr>
        <p:grpSpPr>
          <a:xfrm>
            <a:off x="377411" y="1359038"/>
            <a:ext cx="11458437" cy="4825724"/>
            <a:chOff x="377411" y="1359038"/>
            <a:chExt cx="11458437" cy="4825724"/>
          </a:xfrm>
        </p:grpSpPr>
        <p:sp>
          <p:nvSpPr>
            <p:cNvPr id="4" name="Rectangle 3"/>
            <p:cNvSpPr/>
            <p:nvPr/>
          </p:nvSpPr>
          <p:spPr>
            <a:xfrm>
              <a:off x="377411" y="2421973"/>
              <a:ext cx="1828248" cy="1700696"/>
            </a:xfrm>
            <a:prstGeom prst="rect">
              <a:avLst/>
            </a:prstGeom>
            <a:noFill/>
            <a:ln w="21259">
              <a:solidFill>
                <a:srgbClr val="7D8998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" name="Corporate-data-center_32" descr="Corporate data center_3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7411" y="2421973"/>
              <a:ext cx="255104" cy="25510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17550" y="2471931"/>
              <a:ext cx="1274193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71" b="1" lang="ko-KR">
                  <a:solidFill>
                    <a:srgbClr val="7D8998"/>
                  </a:solidFill>
                  <a:latin typeface="Arial"/>
                  <a:ea typeface="Malgun Gothic"/>
                  <a:cs typeface="Malgun Gothic"/>
                </a:rPr>
                <a:t>On-premises</a:t>
              </a:r>
            </a:p>
          </p:txBody>
        </p:sp>
        <p:pic>
          <p:nvPicPr>
            <p:cNvPr id="7" name="Amazon-VPC_Customer-Gateway" descr="Amazon VPC_Customer Gateway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6430" y="2804629"/>
              <a:ext cx="510209" cy="51020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519578" y="3364796"/>
              <a:ext cx="1543913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7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CGW · GRE 캡슐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26222" y="3555061"/>
              <a:ext cx="1530626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src 172.20.255.1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6222" y="3725131"/>
              <a:ext cx="1530626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dst 10.255.255.1</a:t>
              </a:r>
            </a:p>
          </p:txBody>
        </p:sp>
        <p:pic>
          <p:nvPicPr>
            <p:cNvPr id="11" name="AWS-Direct-Connect" descr="AWS Direct Connect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73350" y="2804629"/>
              <a:ext cx="510209" cy="510209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2137897" y="3364796"/>
              <a:ext cx="1581115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7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Direct Connect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50833" y="3555061"/>
              <a:ext cx="1355242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Transit VIF ×2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1589157" y="3059734"/>
              <a:ext cx="1020417" cy="0"/>
            </a:xfrm>
            <a:prstGeom prst="line">
              <a:avLst/>
            </a:prstGeom>
            <a:ln w="15944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15" name="TextBox 14"/>
            <p:cNvSpPr txBox="1"/>
            <p:nvPr/>
          </p:nvSpPr>
          <p:spPr>
            <a:xfrm>
              <a:off x="2212302" y="2853524"/>
              <a:ext cx="390629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GRE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629991" y="1359038"/>
              <a:ext cx="8205857" cy="4825724"/>
            </a:xfrm>
            <a:prstGeom prst="rect">
              <a:avLst/>
            </a:prstGeom>
            <a:noFill/>
            <a:ln w="21259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7" name="AWS-Cloud-logo_32" descr="AWS Cloud logo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629991" y="1359038"/>
              <a:ext cx="340139" cy="340139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4055165" y="1441415"/>
              <a:ext cx="1145977" cy="20727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255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AWS Cloud</a:t>
              </a:r>
            </a:p>
          </p:txBody>
        </p:sp>
        <p:pic>
          <p:nvPicPr>
            <p:cNvPr id="19" name="AWS-Direct-Connect_Gateway" descr="AWS Direct Connect_Gateway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991389" y="2804629"/>
              <a:ext cx="510209" cy="510209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967473" y="3364796"/>
              <a:ext cx="558041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7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DXGW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3226076" y="3059734"/>
              <a:ext cx="701537" cy="0"/>
            </a:xfrm>
            <a:prstGeom prst="line">
              <a:avLst/>
            </a:prstGeom>
            <a:ln w="15944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22" name="Rectangle 21"/>
            <p:cNvSpPr/>
            <p:nvPr/>
          </p:nvSpPr>
          <p:spPr>
            <a:xfrm>
              <a:off x="4714185" y="1762953"/>
              <a:ext cx="6994111" cy="4272998"/>
            </a:xfrm>
            <a:prstGeom prst="rect">
              <a:avLst/>
            </a:prstGeom>
            <a:noFill/>
            <a:ln w="21259">
              <a:solidFill>
                <a:srgbClr val="00A4A6"/>
              </a:solidFill>
              <a:custDash>
                <a:ds d="150000" sp="1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3" name="Region_32" descr="Region_32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714185" y="1762953"/>
              <a:ext cx="255104" cy="255104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5054324" y="1812911"/>
              <a:ext cx="2297268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71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Region ap-northeast-2</a:t>
              </a:r>
            </a:p>
          </p:txBody>
        </p:sp>
        <p:pic>
          <p:nvPicPr>
            <p:cNvPr id="25" name="AWS-Transit-Gateway" descr="AWS Transit Gateway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224393" y="2804629"/>
              <a:ext cx="510209" cy="510209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5251631" y="3364796"/>
              <a:ext cx="455733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7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4544115" y="3059734"/>
              <a:ext cx="616502" cy="0"/>
            </a:xfrm>
            <a:prstGeom prst="line">
              <a:avLst/>
            </a:prstGeom>
            <a:ln w="15944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pic>
          <p:nvPicPr>
            <p:cNvPr id="28" name="Amazon-Route-53_Route-Table" descr="Amazon Route 53_Route Table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224393" y="4250221"/>
              <a:ext cx="510209" cy="510209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4591283" y="4810387"/>
              <a:ext cx="1776430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7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라우팅 테이블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758031" y="5000653"/>
              <a:ext cx="1442934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10.255.255.1/32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30129" y="5170722"/>
              <a:ext cx="1498738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→ VPC att (정적)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5479498" y="3569942"/>
              <a:ext cx="0" cy="637761"/>
            </a:xfrm>
            <a:prstGeom prst="line">
              <a:avLst/>
            </a:prstGeom>
            <a:ln w="15944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</p:cxnSp>
        <p:sp>
          <p:nvSpPr>
            <p:cNvPr id="33" name="TextBox 32"/>
            <p:cNvSpPr txBox="1"/>
            <p:nvPr/>
          </p:nvSpPr>
          <p:spPr>
            <a:xfrm>
              <a:off x="5564533" y="3810166"/>
              <a:ext cx="446433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0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조회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351104" y="2145610"/>
              <a:ext cx="5229639" cy="3465167"/>
            </a:xfrm>
            <a:prstGeom prst="rect">
              <a:avLst/>
            </a:prstGeom>
            <a:noFill/>
            <a:ln w="21259">
              <a:solidFill>
                <a:srgbClr val="8C4FFF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5" name="Virtual-private-cloud-VPC_32" descr="Virtual private cloud VPC_32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351104" y="2145610"/>
              <a:ext cx="255104" cy="255104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691243" y="2195568"/>
              <a:ext cx="1683423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71" b="1" lang="ko-KR">
                  <a:solidFill>
                    <a:srgbClr val="8C4FFF"/>
                  </a:solidFill>
                  <a:latin typeface="Arial"/>
                  <a:ea typeface="Malgun Gothic"/>
                  <a:cs typeface="Malgun Gothic"/>
                </a:rPr>
                <a:t>VPC 10.1.1.0/24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796696" y="2464490"/>
              <a:ext cx="1806989" cy="2976217"/>
            </a:xfrm>
            <a:prstGeom prst="rect">
              <a:avLst/>
            </a:prstGeom>
            <a:noFill/>
            <a:ln w="15944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rivate-subnet_32" descr="Private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796696" y="2464490"/>
              <a:ext cx="255104" cy="255104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8136835" y="2514448"/>
              <a:ext cx="1785730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71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TGW subnet · AZ1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816272" y="2464490"/>
              <a:ext cx="1594402" cy="1296780"/>
            </a:xfrm>
            <a:prstGeom prst="rect">
              <a:avLst/>
            </a:prstGeom>
            <a:noFill/>
            <a:ln w="15944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1" name="Private-subnet_32" descr="Private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816272" y="2464490"/>
              <a:ext cx="255104" cy="255104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10156411" y="2514448"/>
              <a:ext cx="1376501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71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Router · AZ1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816272" y="3931340"/>
              <a:ext cx="1594402" cy="1509367"/>
            </a:xfrm>
            <a:prstGeom prst="rect">
              <a:avLst/>
            </a:prstGeom>
            <a:noFill/>
            <a:ln w="15944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rivate-subnet_32" descr="Private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816272" y="3931340"/>
              <a:ext cx="255104" cy="255104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10156411" y="3981298"/>
              <a:ext cx="1376501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71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Router · AZ2</a:t>
              </a:r>
            </a:p>
          </p:txBody>
        </p:sp>
        <p:pic>
          <p:nvPicPr>
            <p:cNvPr id="46" name="AWS-Transit-Gateway_Attachment" descr="AWS Transit Gateway_Attachment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445086" y="2804629"/>
              <a:ext cx="510209" cy="510209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7705018" y="3364796"/>
              <a:ext cx="1990345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7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attachment ENI</a:t>
              </a:r>
            </a:p>
          </p:txBody>
        </p:sp>
        <p:cxnSp>
          <p:nvCxnSpPr>
            <p:cNvPr id="48" name="Connector 47"/>
            <p:cNvCxnSpPr/>
            <p:nvPr/>
          </p:nvCxnSpPr>
          <p:spPr>
            <a:xfrm>
              <a:off x="5777120" y="3059734"/>
              <a:ext cx="2604190" cy="0"/>
            </a:xfrm>
            <a:prstGeom prst="line">
              <a:avLst/>
            </a:prstGeom>
            <a:ln w="15944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pic>
          <p:nvPicPr>
            <p:cNvPr id="49" name="Amazon-EC2_Instance" descr="Amazon EC2_Instance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358368" y="2804629"/>
              <a:ext cx="510209" cy="510209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9790363" y="3364796"/>
              <a:ext cx="1646220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7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C8000V-1 · 활성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011586" y="3555061"/>
              <a:ext cx="1203774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GRE 캡슐 해제</a:t>
              </a:r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8997812" y="3059734"/>
              <a:ext cx="1296780" cy="0"/>
            </a:xfrm>
            <a:prstGeom prst="line">
              <a:avLst/>
            </a:prstGeom>
            <a:ln w="15944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53" name="TextBox 52"/>
            <p:cNvSpPr txBox="1"/>
            <p:nvPr/>
          </p:nvSpPr>
          <p:spPr>
            <a:xfrm>
              <a:off x="9100119" y="2853524"/>
              <a:ext cx="390629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GRE</a:t>
              </a:r>
            </a:p>
          </p:txBody>
        </p:sp>
        <p:pic>
          <p:nvPicPr>
            <p:cNvPr id="54" name="Amazon-Route-53_Route-Table" descr="Amazon Route 53_Route Table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445086" y="4250221"/>
              <a:ext cx="510209" cy="510209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8267709" y="4810387"/>
              <a:ext cx="864963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7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tgw-rtb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978723" y="5000653"/>
              <a:ext cx="1442934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10.255.255.1/32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906975" y="5170722"/>
              <a:ext cx="1586430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→ 활성 C8000V Gi1</a:t>
              </a:r>
            </a:p>
          </p:txBody>
        </p:sp>
        <p:cxnSp>
          <p:nvCxnSpPr>
            <p:cNvPr id="58" name="Connector 57"/>
            <p:cNvCxnSpPr/>
            <p:nvPr/>
          </p:nvCxnSpPr>
          <p:spPr>
            <a:xfrm>
              <a:off x="8700190" y="3569942"/>
              <a:ext cx="0" cy="637761"/>
            </a:xfrm>
            <a:prstGeom prst="line">
              <a:avLst/>
            </a:prstGeom>
            <a:ln w="15944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</p:cxnSp>
        <p:sp>
          <p:nvSpPr>
            <p:cNvPr id="59" name="TextBox 58"/>
            <p:cNvSpPr txBox="1"/>
            <p:nvPr/>
          </p:nvSpPr>
          <p:spPr>
            <a:xfrm>
              <a:off x="8785225" y="3810166"/>
              <a:ext cx="446433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0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조회</a:t>
              </a:r>
            </a:p>
          </p:txBody>
        </p:sp>
        <p:pic>
          <p:nvPicPr>
            <p:cNvPr id="60" name="Amazon-VPC_Router" descr="Amazon VPC_Router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755020" y="4250221"/>
              <a:ext cx="510209" cy="510209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6321874" y="4810387"/>
              <a:ext cx="1376501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7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Route Server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376349" y="5000653"/>
              <a:ext cx="1267550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BGP best-path</a:t>
              </a:r>
            </a:p>
          </p:txBody>
        </p:sp>
        <p:cxnSp>
          <p:nvCxnSpPr>
            <p:cNvPr id="63" name="Connector 62"/>
            <p:cNvCxnSpPr/>
            <p:nvPr/>
          </p:nvCxnSpPr>
          <p:spPr>
            <a:xfrm>
              <a:off x="7307746" y="4505325"/>
              <a:ext cx="1073564" cy="0"/>
            </a:xfrm>
            <a:prstGeom prst="line">
              <a:avLst/>
            </a:prstGeom>
            <a:ln w="15944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</p:cxnSp>
        <p:sp>
          <p:nvSpPr>
            <p:cNvPr id="64" name="TextBox 63"/>
            <p:cNvSpPr txBox="1"/>
            <p:nvPr/>
          </p:nvSpPr>
          <p:spPr>
            <a:xfrm>
              <a:off x="7329004" y="4299116"/>
              <a:ext cx="446433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주입</a:t>
              </a:r>
            </a:p>
          </p:txBody>
        </p:sp>
        <p:pic>
          <p:nvPicPr>
            <p:cNvPr id="65" name="Amazon-EC2_Instance" descr="Amazon EC2_Instance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358368" y="4250221"/>
              <a:ext cx="510209" cy="510209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9790363" y="4810387"/>
              <a:ext cx="1646220" cy="19345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71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C8000V-2 · 대기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0111236" y="5000653"/>
              <a:ext cx="1004473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prepend ×3</a:t>
              </a:r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8997812" y="4505325"/>
              <a:ext cx="1296780" cy="0"/>
            </a:xfrm>
            <a:prstGeom prst="line">
              <a:avLst/>
            </a:prstGeom>
            <a:ln w="15944">
              <a:solidFill>
                <a:srgbClr val="232F3E"/>
              </a:solidFill>
              <a:custDash>
                <a:ds d="400000" sp="266667"/>
              </a:custDash>
              <a:miter lim="800000"/>
              <a:tailEnd type="triangle" w="med" len="med"/>
            </a:ln>
          </p:spPr>
        </p:cxnSp>
        <p:sp>
          <p:nvSpPr>
            <p:cNvPr id="69" name="TextBox 68"/>
            <p:cNvSpPr txBox="1"/>
            <p:nvPr/>
          </p:nvSpPr>
          <p:spPr>
            <a:xfrm>
              <a:off x="8912777" y="4299116"/>
              <a:ext cx="765313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4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페일오버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612365" y="5765966"/>
              <a:ext cx="5947120" cy="16581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004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온프렘 → AWS GRE 패킷 경로 — tgw-rtb의 /32가 터널을 받을 라우터를 결정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