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15.png"/><Relationship Id="rId15" Type="http://schemas.openxmlformats.org/officeDocument/2006/relationships/image" Target="../media/image16.svg"/><Relationship Id="rId16" Type="http://schemas.openxmlformats.org/officeDocument/2006/relationships/image" Target="../media/image17.png"/><Relationship Id="rId17" Type="http://schemas.openxmlformats.org/officeDocument/2006/relationships/image" Target="../media/image18.svg"/><Relationship Id="rId18" Type="http://schemas.openxmlformats.org/officeDocument/2006/relationships/image" Target="../media/image19.png"/><Relationship Id="rId19" Type="http://schemas.openxmlformats.org/officeDocument/2006/relationships/image" Target="../media/image20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Relationship Id="rId22" Type="http://schemas.openxmlformats.org/officeDocument/2006/relationships/image" Target="../media/image23.png"/><Relationship Id="rId23" Type="http://schemas.openxmlformats.org/officeDocument/2006/relationships/image" Target="../media/image24.svg"/><Relationship Id="rId24" Type="http://schemas.openxmlformats.org/officeDocument/2006/relationships/image" Target="../media/image27.png"/><Relationship Id="rId25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MTS hybrid multicast — architecture overview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554517" y="1036970"/>
            <a:ext cx="11101425" cy="5503825"/>
            <a:chOff x="554517" y="1036970"/>
            <a:chExt cx="11101425" cy="5503825"/>
          </a:xfrm>
        </p:grpSpPr>
        <p:sp>
          <p:nvSpPr>
            <p:cNvPr id="4" name="Rectangle 3"/>
            <p:cNvSpPr/>
            <p:nvPr/>
          </p:nvSpPr>
          <p:spPr>
            <a:xfrm>
              <a:off x="565593" y="3424865"/>
              <a:ext cx="2023140" cy="1166628"/>
            </a:xfrm>
            <a:prstGeom prst="rect">
              <a:avLst/>
            </a:prstGeom>
            <a:noFill/>
            <a:ln w="14767">
              <a:solidFill>
                <a:srgbClr val="7D8998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" name="Corporate-data-center_32" descr="Corporate data center_3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5593" y="3424865"/>
              <a:ext cx="177209" cy="177209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801872" y="3459569"/>
              <a:ext cx="885124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7D8998"/>
                  </a:solidFill>
                  <a:latin typeface="Arial"/>
                  <a:ea typeface="Malgun Gothic"/>
                  <a:cs typeface="Malgun Gothic"/>
                </a:rPr>
                <a:t>On-premises</a:t>
              </a:r>
            </a:p>
          </p:txBody>
        </p:sp>
        <p:pic>
          <p:nvPicPr>
            <p:cNvPr id="7" name="Server" descr="Server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7105" y="3720214"/>
              <a:ext cx="354419" cy="35441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99423" y="4109336"/>
              <a:ext cx="529782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Sender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54517" y="4241505"/>
              <a:ext cx="819593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172.20.51.10</a:t>
              </a:r>
            </a:p>
          </p:txBody>
        </p:sp>
        <p:pic>
          <p:nvPicPr>
            <p:cNvPr id="10" name="Amazon-VPC_Customer-Gateway" descr="Amazon VPC_Customer Gateway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20826" y="3720214"/>
              <a:ext cx="354419" cy="35441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448871" y="4109336"/>
              <a:ext cx="1098328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CGW · AS 65000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66407" y="4241505"/>
              <a:ext cx="1063256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Lo0 172.20.255.1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70985" y="4359644"/>
              <a:ext cx="454099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PIM RP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1171058" y="3897423"/>
              <a:ext cx="605465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15" name="TextBox 14"/>
            <p:cNvSpPr txBox="1"/>
            <p:nvPr/>
          </p:nvSpPr>
          <p:spPr>
            <a:xfrm>
              <a:off x="1040920" y="3754179"/>
              <a:ext cx="880509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UDP 239.1.1.1</a:t>
              </a:r>
            </a:p>
          </p:txBody>
        </p:sp>
        <p:pic>
          <p:nvPicPr>
            <p:cNvPr id="16" name="AWS-Direct-Connect" descr="AWS Direct Connect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16988" y="3720214"/>
              <a:ext cx="354419" cy="35441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2645033" y="4109336"/>
              <a:ext cx="1098328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Direct Connect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23485" y="4241505"/>
              <a:ext cx="941424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Transit VIF ×2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204779" y="3897423"/>
              <a:ext cx="767907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2645033" y="3754179"/>
              <a:ext cx="271352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696291" y="1313121"/>
              <a:ext cx="7959651" cy="5227674"/>
            </a:xfrm>
            <a:prstGeom prst="rect">
              <a:avLst/>
            </a:prstGeom>
            <a:noFill/>
            <a:ln w="14767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2" name="AWS-Cloud-logo_32" descr="AWS Cloud logo_3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96291" y="1313121"/>
              <a:ext cx="236279" cy="236279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991640" y="1370345"/>
              <a:ext cx="796057" cy="1439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72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pic>
          <p:nvPicPr>
            <p:cNvPr id="24" name="AWS-Direct-Connect_Gateway" descr="AWS Direct Connect_Gateway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06407" y="3720214"/>
              <a:ext cx="354419" cy="354419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989794" y="4109336"/>
              <a:ext cx="387645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DXGW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95651" y="4241505"/>
              <a:ext cx="575930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AS 65300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400942" y="3897423"/>
              <a:ext cx="561163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28" name="Rectangle 27"/>
            <p:cNvSpPr/>
            <p:nvPr/>
          </p:nvSpPr>
          <p:spPr>
            <a:xfrm>
              <a:off x="4626640" y="1593702"/>
              <a:ext cx="6911163" cy="4828953"/>
            </a:xfrm>
            <a:prstGeom prst="rect">
              <a:avLst/>
            </a:prstGeom>
            <a:noFill/>
            <a:ln w="14767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9" name="Region_32" descr="Region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26640" y="1593702"/>
              <a:ext cx="177209" cy="177209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862919" y="1628406"/>
              <a:ext cx="159580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ap-northeast-2</a:t>
              </a:r>
            </a:p>
          </p:txBody>
        </p:sp>
        <p:pic>
          <p:nvPicPr>
            <p:cNvPr id="31" name="AWS-Transit-Gateway" descr="AWS Transit Gateway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995826" y="3720214"/>
              <a:ext cx="354419" cy="354419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4588336" y="4109336"/>
              <a:ext cx="116939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Transit Gateway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85070" y="4241505"/>
              <a:ext cx="575930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AS 65400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4390360" y="3897423"/>
              <a:ext cx="561163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35" name="Rectangle 34"/>
            <p:cNvSpPr/>
            <p:nvPr/>
          </p:nvSpPr>
          <p:spPr>
            <a:xfrm>
              <a:off x="5852337" y="1874284"/>
              <a:ext cx="5567326" cy="4267791"/>
            </a:xfrm>
            <a:prstGeom prst="rect">
              <a:avLst/>
            </a:prstGeom>
            <a:noFill/>
            <a:ln w="147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6" name="Virtual-private-cloud-VPC_32" descr="Virtual private cloud VPC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52337" y="1874284"/>
              <a:ext cx="177209" cy="177209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6088616" y="1908987"/>
              <a:ext cx="116939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10.1.1.0/24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970477" y="2125330"/>
              <a:ext cx="5331047" cy="1402907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29547" y="2160034"/>
              <a:ext cx="159580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AZ1 · ap-northeast-2a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073849" y="2391144"/>
              <a:ext cx="1107558" cy="1033721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073849" y="2391144"/>
              <a:ext cx="177209" cy="177209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310128" y="2425848"/>
              <a:ext cx="814055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299547" y="2391144"/>
              <a:ext cx="1668721" cy="1033721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299547" y="2391144"/>
              <a:ext cx="177209" cy="177209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5826" y="2425848"/>
              <a:ext cx="1027260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subnet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145477" y="2391144"/>
              <a:ext cx="2008372" cy="1033721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145477" y="2391144"/>
              <a:ext cx="177209" cy="177209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9381756" y="2425848"/>
              <a:ext cx="116939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Receiver subnet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70477" y="4621028"/>
              <a:ext cx="5331047" cy="1402907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029547" y="4655731"/>
              <a:ext cx="159580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AZ2 · ap-northeast-2c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073849" y="4886842"/>
              <a:ext cx="1107558" cy="1033721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2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073849" y="4886842"/>
              <a:ext cx="177209" cy="177209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310128" y="4921545"/>
              <a:ext cx="814055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299547" y="4886842"/>
              <a:ext cx="1668721" cy="1033721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299547" y="4886842"/>
              <a:ext cx="177209" cy="177209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7535826" y="4921545"/>
              <a:ext cx="1027260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subnet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145477" y="4886842"/>
              <a:ext cx="2008372" cy="1033721"/>
            </a:xfrm>
            <a:prstGeom prst="rect">
              <a:avLst/>
            </a:prstGeom>
            <a:noFill/>
            <a:ln w="1107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8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145477" y="4886842"/>
              <a:ext cx="177209" cy="177209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9381756" y="4921545"/>
              <a:ext cx="1169397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Receiver subnet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071640" y="2169633"/>
              <a:ext cx="2156047" cy="3810000"/>
            </a:xfrm>
            <a:prstGeom prst="rect">
              <a:avLst/>
            </a:prstGeom>
            <a:noFill/>
            <a:ln w="11076">
              <a:solidFill>
                <a:srgbClr val="7D8998"/>
              </a:solidFill>
              <a:custDash>
                <a:ds d="400000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1" name="AWS-Transit-Gateway" descr="AWS Transit Gateway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071640" y="2169633"/>
              <a:ext cx="147674" cy="147674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9278384" y="2204336"/>
              <a:ext cx="2164353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13" b="1" lang="ko-KR">
                  <a:solidFill>
                    <a:srgbClr val="7D8998"/>
                  </a:solidFill>
                  <a:latin typeface="Arial"/>
                  <a:ea typeface="Malgun Gothic"/>
                  <a:cs typeface="Malgun Gothic"/>
                </a:rPr>
                <a:t>TGW multicast domain · IGMPv2</a:t>
              </a:r>
            </a:p>
          </p:txBody>
        </p:sp>
        <p:pic>
          <p:nvPicPr>
            <p:cNvPr id="63" name="AWS-Transit-Gateway_Attachment" descr="AWS Transit Gateway_Attachment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450419" y="2642191"/>
              <a:ext cx="354419" cy="354419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6078464" y="3031313"/>
              <a:ext cx="1098328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attachment</a:t>
              </a:r>
            </a:p>
          </p:txBody>
        </p:sp>
        <p:pic>
          <p:nvPicPr>
            <p:cNvPr id="65" name="Amazon-EC2_Instance" descr="Amazon EC2_Instanc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156058" y="2642191"/>
              <a:ext cx="354419" cy="354419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677501" y="3031313"/>
              <a:ext cx="1311533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C8000V-1 · active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618892" y="3163481"/>
              <a:ext cx="1428750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Gi1 .30 · GRE endpoint</a:t>
              </a:r>
            </a:p>
          </p:txBody>
        </p:sp>
        <p:pic>
          <p:nvPicPr>
            <p:cNvPr id="68" name="Amazon-VPC_Elastic-Network-Interface" descr="Amazon VPC_Elastic Network Interface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26058" y="2642191"/>
              <a:ext cx="354419" cy="354419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9125172" y="3031313"/>
              <a:ext cx="956192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C8000V-1 Gi2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284844" y="3163481"/>
              <a:ext cx="636846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10.1.1.90</a:t>
              </a:r>
            </a:p>
          </p:txBody>
        </p:sp>
        <p:pic>
          <p:nvPicPr>
            <p:cNvPr id="71" name="Amazon-EC2_Instance" descr="Amazon EC2_Instanc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563151" y="2642191"/>
              <a:ext cx="354419" cy="354419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0191196" y="3031313"/>
              <a:ext cx="1098328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EC2-1 receiver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421938" y="3163481"/>
              <a:ext cx="636846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10.1.1.84</a:t>
              </a:r>
            </a:p>
          </p:txBody>
        </p:sp>
        <p:pic>
          <p:nvPicPr>
            <p:cNvPr id="74" name="AWS-Transit-Gateway_Attachment" descr="AWS Transit Gateway_Attachment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450419" y="5137888"/>
              <a:ext cx="354419" cy="354419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6078464" y="5527010"/>
              <a:ext cx="1098328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attachment</a:t>
              </a:r>
            </a:p>
          </p:txBody>
        </p:sp>
        <p:pic>
          <p:nvPicPr>
            <p:cNvPr id="76" name="Amazon-EC2_Instance" descr="Amazon EC2_Instanc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156058" y="5137888"/>
              <a:ext cx="354419" cy="354419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7641967" y="5527010"/>
              <a:ext cx="1382602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C8000V-2 · standby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679808" y="5659179"/>
              <a:ext cx="1306919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Gi1 .40 · prepend ×3</a:t>
              </a:r>
            </a:p>
          </p:txBody>
        </p:sp>
        <p:pic>
          <p:nvPicPr>
            <p:cNvPr id="79" name="Amazon-VPC_Elastic-Network-Interface" descr="Amazon VPC_Elastic Network Interface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26058" y="5137888"/>
              <a:ext cx="354419" cy="354419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9125172" y="5527010"/>
              <a:ext cx="956192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C8000V-2 Gi2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254387" y="5659179"/>
              <a:ext cx="697762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10.1.1.100</a:t>
              </a:r>
            </a:p>
          </p:txBody>
        </p:sp>
        <p:pic>
          <p:nvPicPr>
            <p:cNvPr id="82" name="Amazon-EC2_Instance" descr="Amazon EC2_Instanc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563151" y="5137888"/>
              <a:ext cx="354419" cy="354419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10191196" y="5527010"/>
              <a:ext cx="1098328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EC2-2 receiver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0391480" y="5659179"/>
              <a:ext cx="697762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10.1.1.116</a:t>
              </a:r>
            </a:p>
          </p:txBody>
        </p:sp>
        <p:sp>
          <p:nvSpPr>
            <p:cNvPr id="85" name="Freeform 84"/>
            <p:cNvSpPr/>
            <p:nvPr/>
          </p:nvSpPr>
          <p:spPr>
            <a:xfrm>
              <a:off x="5379779" y="2819400"/>
              <a:ext cx="1026337" cy="1078023"/>
            </a:xfrm>
            <a:custGeom>
              <a:avLst/>
              <a:gdLst/>
              <a:ahLst/>
              <a:cxnLst/>
              <a:rect l="l" t="t" r="r" b="b"/>
              <a:pathLst>
                <a:path w="1026337" h="1078023">
                  <a:moveTo>
                    <a:pt x="0" y="1078023"/>
                  </a:moveTo>
                  <a:lnTo>
                    <a:pt x="324884" y="1078023"/>
                  </a:lnTo>
                  <a:lnTo>
                    <a:pt x="324884" y="0"/>
                  </a:lnTo>
                  <a:lnTo>
                    <a:pt x="1026337" y="0"/>
                  </a:lnTo>
                </a:path>
              </a:pathLst>
            </a:custGeom>
            <a:noFill/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5704663" y="3897423"/>
              <a:ext cx="701453" cy="1417675"/>
            </a:xfrm>
            <a:custGeom>
              <a:avLst/>
              <a:gdLst/>
              <a:ahLst/>
              <a:cxnLst/>
              <a:rect l="l" t="t" r="r" b="b"/>
              <a:pathLst>
                <a:path w="701453" h="1417675">
                  <a:moveTo>
                    <a:pt x="0" y="0"/>
                  </a:moveTo>
                  <a:lnTo>
                    <a:pt x="0" y="1417675"/>
                  </a:lnTo>
                  <a:lnTo>
                    <a:pt x="701453" y="1417675"/>
                  </a:lnTo>
                </a:path>
              </a:pathLst>
            </a:custGeom>
            <a:noFill/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>
              <a:off x="6834372" y="2819400"/>
              <a:ext cx="1277384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88" name="TextBox 87"/>
            <p:cNvSpPr txBox="1"/>
            <p:nvPr/>
          </p:nvSpPr>
          <p:spPr>
            <a:xfrm>
              <a:off x="6861138" y="2676156"/>
              <a:ext cx="271352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6834372" y="5315098"/>
              <a:ext cx="1277384" cy="0"/>
            </a:xfrm>
            <a:prstGeom prst="line">
              <a:avLst/>
            </a:prstGeom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90" name="TextBox 89"/>
            <p:cNvSpPr txBox="1"/>
            <p:nvPr/>
          </p:nvSpPr>
          <p:spPr>
            <a:xfrm>
              <a:off x="7439837" y="5171853"/>
              <a:ext cx="575930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failover</a:t>
              </a:r>
            </a:p>
          </p:txBody>
        </p:sp>
        <p:cxnSp>
          <p:nvCxnSpPr>
            <p:cNvPr id="91" name="Connector 90"/>
            <p:cNvCxnSpPr/>
            <p:nvPr/>
          </p:nvCxnSpPr>
          <p:spPr>
            <a:xfrm>
              <a:off x="8540012" y="2819400"/>
              <a:ext cx="841744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92" name="Connector 91"/>
            <p:cNvCxnSpPr/>
            <p:nvPr/>
          </p:nvCxnSpPr>
          <p:spPr>
            <a:xfrm>
              <a:off x="8540012" y="5315098"/>
              <a:ext cx="841744" cy="0"/>
            </a:xfrm>
            <a:prstGeom prst="line">
              <a:avLst/>
            </a:prstGeom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cxnSp>
          <p:nvCxnSpPr>
            <p:cNvPr id="93" name="Connector 92"/>
            <p:cNvCxnSpPr/>
            <p:nvPr/>
          </p:nvCxnSpPr>
          <p:spPr>
            <a:xfrm>
              <a:off x="9810012" y="2819400"/>
              <a:ext cx="708837" cy="0"/>
            </a:xfrm>
            <a:prstGeom prst="line">
              <a:avLst/>
            </a:prstGeom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94" name="Freeform 93"/>
            <p:cNvSpPr/>
            <p:nvPr/>
          </p:nvSpPr>
          <p:spPr>
            <a:xfrm>
              <a:off x="10253035" y="2819400"/>
              <a:ext cx="265814" cy="2495698"/>
            </a:xfrm>
            <a:custGeom>
              <a:avLst/>
              <a:gdLst/>
              <a:ahLst/>
              <a:cxnLst/>
              <a:rect l="l" t="t" r="r" b="b"/>
              <a:pathLst>
                <a:path w="265814" h="2495698">
                  <a:moveTo>
                    <a:pt x="0" y="0"/>
                  </a:moveTo>
                  <a:lnTo>
                    <a:pt x="0" y="2495698"/>
                  </a:lnTo>
                  <a:lnTo>
                    <a:pt x="265814" y="2495698"/>
                  </a:lnTo>
                </a:path>
              </a:pathLst>
            </a:custGeom>
            <a:noFill/>
            <a:ln w="1107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745404" y="2676156"/>
              <a:ext cx="941424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replicates</a:t>
              </a:r>
            </a:p>
          </p:txBody>
        </p:sp>
        <p:pic>
          <p:nvPicPr>
            <p:cNvPr id="96" name="Amazon-VPC_Router" descr="Amazon VPC_Router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156058" y="3720214"/>
              <a:ext cx="354419" cy="354419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7713035" y="4109336"/>
              <a:ext cx="1240465" cy="1343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13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VPC Route Server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045302" y="4241505"/>
              <a:ext cx="575930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AS 65100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>
              <a:off x="8333267" y="3291958"/>
              <a:ext cx="0" cy="398721"/>
            </a:xfrm>
            <a:prstGeom prst="line">
              <a:avLst/>
            </a:prstGeom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</a:ln>
          </p:spPr>
        </p:cxnSp>
        <p:sp>
          <p:nvSpPr>
            <p:cNvPr id="100" name="TextBox 99"/>
            <p:cNvSpPr txBox="1"/>
            <p:nvPr/>
          </p:nvSpPr>
          <p:spPr>
            <a:xfrm>
              <a:off x="8392337" y="3576970"/>
              <a:ext cx="515015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BGP·BFD</a:t>
              </a:r>
            </a:p>
          </p:txBody>
        </p:sp>
        <p:cxnSp>
          <p:nvCxnSpPr>
            <p:cNvPr id="101" name="Connector 100"/>
            <p:cNvCxnSpPr/>
            <p:nvPr/>
          </p:nvCxnSpPr>
          <p:spPr>
            <a:xfrm>
              <a:off x="8333267" y="4369981"/>
              <a:ext cx="0" cy="738372"/>
            </a:xfrm>
            <a:prstGeom prst="line">
              <a:avLst/>
            </a:prstGeom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</a:ln>
          </p:spPr>
        </p:cxnSp>
        <p:sp>
          <p:nvSpPr>
            <p:cNvPr id="102" name="TextBox 101"/>
            <p:cNvSpPr txBox="1"/>
            <p:nvPr/>
          </p:nvSpPr>
          <p:spPr>
            <a:xfrm>
              <a:off x="8392337" y="4477784"/>
              <a:ext cx="515015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BGP·BFD</a:t>
              </a:r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6073849" y="3705447"/>
              <a:ext cx="1107558" cy="310116"/>
            </a:xfrm>
            <a:prstGeom prst="roundRect">
              <a:avLst>
                <a:gd name="adj" fmla="val 14285"/>
              </a:avLst>
            </a:prstGeom>
            <a:solidFill>
              <a:srgbClr val="F2F3F3"/>
            </a:solidFill>
            <a:ln w="7384">
              <a:solidFill>
                <a:srgbClr val="7D8998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913253" y="3754179"/>
              <a:ext cx="1428750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tgw-rtb · receiver-rtb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004626" y="3872319"/>
              <a:ext cx="1246003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→ active C8000V Gi1</a:t>
              </a:r>
            </a:p>
          </p:txBody>
        </p:sp>
        <p:cxnSp>
          <p:nvCxnSpPr>
            <p:cNvPr id="106" name="Connector 105"/>
            <p:cNvCxnSpPr/>
            <p:nvPr/>
          </p:nvCxnSpPr>
          <p:spPr>
            <a:xfrm flipH="1">
              <a:off x="7210942" y="3897423"/>
              <a:ext cx="915581" cy="0"/>
            </a:xfrm>
            <a:prstGeom prst="line">
              <a:avLst/>
            </a:prstGeom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107" name="TextBox 106"/>
            <p:cNvSpPr txBox="1"/>
            <p:nvPr/>
          </p:nvSpPr>
          <p:spPr>
            <a:xfrm>
              <a:off x="7258936" y="3754179"/>
              <a:ext cx="819593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route inject</a:t>
              </a: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998035" y="1180214"/>
              <a:ext cx="6335232" cy="2510465"/>
            </a:xfrm>
            <a:custGeom>
              <a:avLst/>
              <a:gdLst/>
              <a:ahLst/>
              <a:cxnLst/>
              <a:rect l="l" t="t" r="r" b="b"/>
              <a:pathLst>
                <a:path w="6335232" h="2510465">
                  <a:moveTo>
                    <a:pt x="0" y="2510465"/>
                  </a:moveTo>
                  <a:lnTo>
                    <a:pt x="0" y="0"/>
                  </a:lnTo>
                  <a:lnTo>
                    <a:pt x="6335232" y="0"/>
                  </a:lnTo>
                  <a:lnTo>
                    <a:pt x="6335232" y="1417674"/>
                  </a:lnTo>
                </a:path>
              </a:pathLst>
            </a:custGeom>
            <a:noFill/>
            <a:ln w="1107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380142" y="1036970"/>
              <a:ext cx="5571017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 Tunnel100 (overlay) · 172.20.255.1 → anycast Lo0 10.255.255.1 · eBGP 65000↔65200 + PIM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483151" y="6235109"/>
              <a:ext cx="5936512" cy="11518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69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Solid: data path · dashed: failover path and control plane — only the active router sends on Gi2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GRE-encapsulated packet path (on-prem → AWS)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403746" y="1267308"/>
            <a:ext cx="11419537" cy="5009183"/>
            <a:chOff x="403746" y="1267308"/>
            <a:chExt cx="11419537" cy="5009183"/>
          </a:xfrm>
        </p:grpSpPr>
        <p:sp>
          <p:nvSpPr>
            <p:cNvPr id="4" name="Rectangle 3"/>
            <p:cNvSpPr/>
            <p:nvPr/>
          </p:nvSpPr>
          <p:spPr>
            <a:xfrm>
              <a:off x="403746" y="2230613"/>
              <a:ext cx="2627194" cy="1383656"/>
            </a:xfrm>
            <a:prstGeom prst="rect">
              <a:avLst/>
            </a:prstGeom>
            <a:noFill/>
            <a:ln w="17515">
              <a:solidFill>
                <a:srgbClr val="7D8998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" name="Corporate-data-center_32" descr="Corporate data center_3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3746" y="2230613"/>
              <a:ext cx="210176" cy="21017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83980" y="2271772"/>
              <a:ext cx="1049783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5" b="1" lang="ko-KR">
                  <a:solidFill>
                    <a:srgbClr val="7D8998"/>
                  </a:solidFill>
                  <a:latin typeface="Arial"/>
                  <a:ea typeface="Malgun Gothic"/>
                  <a:cs typeface="Malgun Gothic"/>
                </a:rPr>
                <a:t>On-premises</a:t>
              </a:r>
            </a:p>
          </p:txBody>
        </p:sp>
        <p:pic>
          <p:nvPicPr>
            <p:cNvPr id="7" name="Amazon-VPC_Customer-Gateway" descr="Amazon VPC_Customer Gateway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7168" y="2580905"/>
              <a:ext cx="420351" cy="42035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023874" y="3042416"/>
              <a:ext cx="1386940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CGW · GRE encap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2710" y="3199172"/>
              <a:ext cx="2489266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outer 172.20.255.1 → 10.255.255.1</a:t>
              </a:r>
            </a:p>
          </p:txBody>
        </p:sp>
        <p:pic>
          <p:nvPicPr>
            <p:cNvPr id="10" name="AWS-Direct-Connect" descr="AWS Direct Connect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08923" y="2580905"/>
              <a:ext cx="420351" cy="420351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167773" y="3042416"/>
              <a:ext cx="1302650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Direct Connect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60820" y="3199172"/>
              <a:ext cx="1116557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Transit VIF ×2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962548" y="2791081"/>
              <a:ext cx="1593831" cy="0"/>
            </a:xfrm>
            <a:prstGeom prst="line">
              <a:avLst/>
            </a:prstGeom>
            <a:ln w="1313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2729908" y="2621189"/>
              <a:ext cx="321831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519684" y="1267308"/>
              <a:ext cx="7303599" cy="5009183"/>
            </a:xfrm>
            <a:prstGeom prst="rect">
              <a:avLst/>
            </a:prstGeom>
            <a:noFill/>
            <a:ln w="17515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6" name="AWS-Cloud-logo_32" descr="AWS Cloud logo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19684" y="1267308"/>
              <a:ext cx="280234" cy="28023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4869976" y="1335178"/>
              <a:ext cx="944148" cy="17076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34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pic>
          <p:nvPicPr>
            <p:cNvPr id="18" name="AWS-Direct-Connect_Gateway" descr="AWS Direct Connect_Gateway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922520" y="2580905"/>
              <a:ext cx="420351" cy="420351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4902816" y="3042416"/>
              <a:ext cx="459759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DXGW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4064303" y="2791081"/>
              <a:ext cx="805673" cy="0"/>
            </a:xfrm>
            <a:prstGeom prst="line">
              <a:avLst/>
            </a:prstGeom>
            <a:ln w="1313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21" name="Rectangle 20"/>
            <p:cNvSpPr/>
            <p:nvPr/>
          </p:nvSpPr>
          <p:spPr>
            <a:xfrm>
              <a:off x="5570561" y="1617601"/>
              <a:ext cx="6077576" cy="4483744"/>
            </a:xfrm>
            <a:prstGeom prst="rect">
              <a:avLst/>
            </a:prstGeom>
            <a:noFill/>
            <a:ln w="17515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2" name="Region_32" descr="Region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70561" y="1617601"/>
              <a:ext cx="210176" cy="210176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5850795" y="1658760"/>
              <a:ext cx="1892674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5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ap-northeast-2</a:t>
              </a:r>
            </a:p>
          </p:txBody>
        </p:sp>
        <p:pic>
          <p:nvPicPr>
            <p:cNvPr id="24" name="AWS-Transit-Gateway" descr="AWS Transit Gateway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48544" y="2580905"/>
              <a:ext cx="420351" cy="420351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5665250" y="3042416"/>
              <a:ext cx="1386940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Transit Gateway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5377900" y="2791081"/>
              <a:ext cx="718100" cy="0"/>
            </a:xfrm>
            <a:prstGeom prst="line">
              <a:avLst/>
            </a:prstGeom>
            <a:ln w="1313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27" name="Rounded Rectangle 26"/>
            <p:cNvSpPr/>
            <p:nvPr/>
          </p:nvSpPr>
          <p:spPr>
            <a:xfrm>
              <a:off x="5701921" y="3281490"/>
              <a:ext cx="1313597" cy="507924"/>
            </a:xfrm>
            <a:prstGeom prst="roundRect">
              <a:avLst>
                <a:gd name="adj" fmla="val 10344"/>
              </a:avLst>
            </a:prstGeom>
            <a:solidFill>
              <a:srgbClr val="F2F3F3"/>
            </a:solidFill>
            <a:ln w="8757">
              <a:solidFill>
                <a:srgbClr val="7D8998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64317" y="3339289"/>
              <a:ext cx="1188805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route table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64317" y="3479406"/>
              <a:ext cx="1188805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10.255.255.1/32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55945" y="3619523"/>
              <a:ext cx="1405549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→ VPC att (static)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34451" y="1967893"/>
              <a:ext cx="4238540" cy="3765645"/>
            </a:xfrm>
            <a:prstGeom prst="rect">
              <a:avLst/>
            </a:prstGeom>
            <a:noFill/>
            <a:ln w="17515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2" name="Virtual-private-cloud-VPC_32" descr="Virtual private cloud VPC_3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234451" y="1967893"/>
              <a:ext cx="210176" cy="21017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514685" y="2009053"/>
              <a:ext cx="1386940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5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10.1.1.0/24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409597" y="2283157"/>
              <a:ext cx="1926609" cy="1874065"/>
            </a:xfrm>
            <a:prstGeom prst="rect">
              <a:avLst/>
            </a:prstGeom>
            <a:noFill/>
            <a:ln w="1313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rivate-subnet_32" descr="Private subnet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409597" y="2283157"/>
              <a:ext cx="210176" cy="210176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7689831" y="2324316"/>
              <a:ext cx="1471229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5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 · AZ1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546381" y="2283157"/>
              <a:ext cx="1751463" cy="1874065"/>
            </a:xfrm>
            <a:prstGeom prst="rect">
              <a:avLst/>
            </a:prstGeom>
            <a:noFill/>
            <a:ln w="1313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rivate-subnet_32" descr="Private subnet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546381" y="2283157"/>
              <a:ext cx="210176" cy="210176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9826616" y="2324316"/>
              <a:ext cx="1724096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5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subnet · AZ1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546381" y="4332368"/>
              <a:ext cx="1751463" cy="1226024"/>
            </a:xfrm>
            <a:prstGeom prst="rect">
              <a:avLst/>
            </a:prstGeom>
            <a:noFill/>
            <a:ln w="13136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rivate-subnet_32" descr="Private subnet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546381" y="4332368"/>
              <a:ext cx="210176" cy="210176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9826616" y="4373527"/>
              <a:ext cx="1724096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5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subnet · AZ2</a:t>
              </a:r>
            </a:p>
          </p:txBody>
        </p:sp>
        <p:pic>
          <p:nvPicPr>
            <p:cNvPr id="43" name="AWS-Transit-Gateway_Attachment" descr="AWS Transit Gateway_Attachment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162726" y="2580905"/>
              <a:ext cx="420351" cy="420351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7552998" y="3042416"/>
              <a:ext cx="1639807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attachment ENI</a:t>
              </a:r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6603924" y="2791081"/>
              <a:ext cx="1506258" cy="0"/>
            </a:xfrm>
            <a:prstGeom prst="line">
              <a:avLst/>
            </a:prstGeom>
            <a:ln w="1313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46" name="Rounded Rectangle 45"/>
            <p:cNvSpPr/>
            <p:nvPr/>
          </p:nvSpPr>
          <p:spPr>
            <a:xfrm>
              <a:off x="7584743" y="3281490"/>
              <a:ext cx="1576316" cy="507924"/>
            </a:xfrm>
            <a:prstGeom prst="roundRect">
              <a:avLst>
                <a:gd name="adj" fmla="val 10344"/>
              </a:avLst>
            </a:prstGeom>
            <a:solidFill>
              <a:srgbClr val="F2F3F3"/>
            </a:solidFill>
            <a:ln w="13136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634003" y="3339289"/>
              <a:ext cx="1477797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tgw-rtb lookup ← RS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778499" y="3479406"/>
              <a:ext cx="1188805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10.255.255.1/32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89508" y="3619523"/>
              <a:ext cx="1766788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→ active C8000V Gi1 ENI</a:t>
              </a:r>
            </a:p>
          </p:txBody>
        </p:sp>
        <p:pic>
          <p:nvPicPr>
            <p:cNvPr id="50" name="Amazon-EC2_Instance" descr="Amazon EC2_Instance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211937" y="2580905"/>
              <a:ext cx="420351" cy="420351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9644354" y="3042416"/>
              <a:ext cx="1555518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C8000V-1 · active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044454" y="3199172"/>
              <a:ext cx="755318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GRE decap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8618106" y="2791081"/>
              <a:ext cx="1541287" cy="0"/>
            </a:xfrm>
            <a:prstGeom prst="line">
              <a:avLst/>
            </a:prstGeom>
            <a:ln w="13136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54" name="TextBox 53"/>
            <p:cNvSpPr txBox="1"/>
            <p:nvPr/>
          </p:nvSpPr>
          <p:spPr>
            <a:xfrm>
              <a:off x="8789969" y="2621189"/>
              <a:ext cx="321831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pic>
          <p:nvPicPr>
            <p:cNvPr id="55" name="Amazon-EC2_Instance" descr="Amazon EC2_Instance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211937" y="4630117"/>
              <a:ext cx="420351" cy="420351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9602209" y="5091627"/>
              <a:ext cx="1639807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C8000V-2 · standby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008330" y="5248383"/>
              <a:ext cx="827566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prepend ×3</a:t>
              </a:r>
            </a:p>
          </p:txBody>
        </p:sp>
        <p:sp>
          <p:nvSpPr>
            <p:cNvPr id="58" name="Freeform 57"/>
            <p:cNvSpPr/>
            <p:nvPr/>
          </p:nvSpPr>
          <p:spPr>
            <a:xfrm>
              <a:off x="9161060" y="3535453"/>
              <a:ext cx="998333" cy="1304839"/>
            </a:xfrm>
            <a:custGeom>
              <a:avLst/>
              <a:gdLst/>
              <a:ahLst/>
              <a:cxnLst/>
              <a:rect l="l" t="t" r="r" b="b"/>
              <a:pathLst>
                <a:path w="998333" h="1304839">
                  <a:moveTo>
                    <a:pt x="0" y="0"/>
                  </a:moveTo>
                  <a:lnTo>
                    <a:pt x="280234" y="0"/>
                  </a:lnTo>
                  <a:lnTo>
                    <a:pt x="280234" y="1304839"/>
                  </a:lnTo>
                  <a:lnTo>
                    <a:pt x="998333" y="1304839"/>
                  </a:lnTo>
                </a:path>
              </a:pathLst>
            </a:custGeom>
            <a:noFill/>
            <a:ln w="1313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705679" y="4442710"/>
              <a:ext cx="683070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failover</a:t>
              </a:r>
            </a:p>
          </p:txBody>
        </p:sp>
        <p:pic>
          <p:nvPicPr>
            <p:cNvPr id="60" name="Amazon-VPC_Router" descr="Amazon VPC_Router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162726" y="4630117"/>
              <a:ext cx="420351" cy="420351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7637287" y="5091627"/>
              <a:ext cx="1471229" cy="15938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65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VPC Route Server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453384" y="5248383"/>
              <a:ext cx="1839036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2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BGP best path → next hop</a:t>
              </a:r>
            </a:p>
          </p:txBody>
        </p:sp>
        <p:cxnSp>
          <p:nvCxnSpPr>
            <p:cNvPr id="63" name="Connector 62"/>
            <p:cNvCxnSpPr/>
            <p:nvPr/>
          </p:nvCxnSpPr>
          <p:spPr>
            <a:xfrm flipV="1">
              <a:off x="8372901" y="3824444"/>
              <a:ext cx="0" cy="770643"/>
            </a:xfrm>
            <a:prstGeom prst="line">
              <a:avLst/>
            </a:prstGeom>
            <a:ln w="13136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64" name="TextBox 63"/>
            <p:cNvSpPr txBox="1"/>
            <p:nvPr/>
          </p:nvSpPr>
          <p:spPr>
            <a:xfrm>
              <a:off x="8442960" y="4215020"/>
              <a:ext cx="899814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2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injects /32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21102" y="5861395"/>
              <a:ext cx="6751889" cy="13661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827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On-prem → AWS GRE packet path — the /32 in tgw-rtb picks the router that receives the tunnel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